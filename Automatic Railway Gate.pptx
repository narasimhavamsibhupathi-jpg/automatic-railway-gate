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slideLayouts/slideLayout12.xml" ContentType="application/vnd.openxmlformats-officedocument.presentationml.slideLayout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slideLayouts/slideLayout16.xml" ContentType="application/vnd.openxmlformats-officedocument.presentationml.slideLayout+xml"/>
  <Override PartName="/ppt/theme/theme12.xml" ContentType="application/vnd.openxmlformats-officedocument.theme+xml"/>
  <Override PartName="/ppt/slideLayouts/slideLayout17.xml" ContentType="application/vnd.openxmlformats-officedocument.presentationml.slideLayout+xml"/>
  <Override PartName="/ppt/theme/theme13.xml" ContentType="application/vnd.openxmlformats-officedocument.theme+xml"/>
  <Override PartName="/ppt/slideLayouts/slideLayout18.xml" ContentType="application/vnd.openxmlformats-officedocument.presentationml.slideLayout+xml"/>
  <Override PartName="/ppt/theme/theme14.xml" ContentType="application/vnd.openxmlformats-officedocument.theme+xml"/>
  <Override PartName="/ppt/slideLayouts/slideLayout19.xml" ContentType="application/vnd.openxmlformats-officedocument.presentationml.slideLayout+xml"/>
  <Override PartName="/ppt/theme/theme15.xml" ContentType="application/vnd.openxmlformats-officedocument.theme+xml"/>
  <Override PartName="/ppt/slideLayouts/slideLayout20.xml" ContentType="application/vnd.openxmlformats-officedocument.presentationml.slideLayout+xml"/>
  <Override PartName="/ppt/theme/theme16.xml" ContentType="application/vnd.openxmlformats-officedocument.theme+xml"/>
  <Override PartName="/ppt/slideLayouts/slideLayout21.xml" ContentType="application/vnd.openxmlformats-officedocument.presentationml.slideLayout+xml"/>
  <Override PartName="/ppt/theme/theme17.xml" ContentType="application/vnd.openxmlformats-officedocument.theme+xml"/>
  <Override PartName="/ppt/slideLayouts/slideLayout22.xml" ContentType="application/vnd.openxmlformats-officedocument.presentationml.slideLayout+xml"/>
  <Override PartName="/ppt/theme/theme18.xml" ContentType="application/vnd.openxmlformats-officedocument.theme+xml"/>
  <Override PartName="/ppt/slideLayouts/slideLayout23.xml" ContentType="application/vnd.openxmlformats-officedocument.presentationml.slideLayout+xml"/>
  <Override PartName="/ppt/theme/theme1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7A8E5F1-23E3-4970-9CCD-B1C05A8DDD0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E43EE86-58AC-459A-A8B3-75B2F80B85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FF29DA-7957-4B7C-A02B-F8AB48A9FBB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44FF8EA-CA3A-4720-9397-C0D04C7F3F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B67FA88-1FAF-4E7E-B9C5-A86A20421A1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216FCC6-3FE1-4A05-BD9D-86FD0611973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C2A8B35-74F9-425E-9200-AFBD66DCFF2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B9394DB-7BAD-4180-8640-DB087E37DBE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90392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880D95E-28EF-40D2-A73F-A55378B04D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D2A7DEA-DF45-48A6-B361-6B53CA8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203647B8-74EE-4E9E-834B-93FFDE4DD4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90392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60117CA-F22D-4594-96FB-DFFD60A837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221A358-E9CA-440E-B444-34D9042E97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EFF4808-8E8D-4238-BFFB-051414EB174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8CEE9B2-AEAC-4245-B947-673796D6B51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3954D7B-0C78-4CB2-94CF-B638315A6DB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90392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59921951-B62D-4EDA-A434-36A5ABC7D2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903920" y="1567440"/>
            <a:ext cx="34344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776C152-92E3-421E-A6BB-3F54CE7F4A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97440" y="537480"/>
            <a:ext cx="70380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27CBACFD-E0AE-4A69-9183-6BDF4BFCFD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8B7B85EC-601A-4B6D-81B0-681F5A6489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4C5F55E1-4ACB-4182-99DB-424F8AD5C21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CC6F8ED-83E5-444B-9005-97045AD581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6E13D959-DEE8-4B98-B2FD-221AAAE1FE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1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6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7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8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9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0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1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2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2"/>
          <p:cNvSpPr/>
          <p:nvPr/>
        </p:nvSpPr>
        <p:spPr>
          <a:xfrm rot="5400000">
            <a:off x="7501320" y="0"/>
            <a:ext cx="1642680" cy="164268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Google Shape;11;p2"/>
          <p:cNvGrpSpPr/>
          <p:nvPr/>
        </p:nvGrpSpPr>
        <p:grpSpPr>
          <a:xfrm>
            <a:off x="5760" y="-7560"/>
            <a:ext cx="5137560" cy="5151600"/>
            <a:chOff x="5760" y="-7560"/>
            <a:chExt cx="5137560" cy="515160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360" y="1080"/>
              <a:ext cx="5151600" cy="513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0" y="1143000"/>
              <a:ext cx="3995640" cy="39816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6200000">
              <a:off x="1800" y="1440"/>
              <a:ext cx="2298600" cy="229068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flipH="1">
              <a:off x="651960" y="588240"/>
              <a:ext cx="2298960" cy="22903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7247CA-7F74-4CB3-9166-C59FC011DEF4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6;p11"/>
          <p:cNvGrpSpPr/>
          <p:nvPr/>
        </p:nvGrpSpPr>
        <p:grpSpPr>
          <a:xfrm>
            <a:off x="4406760" y="-720"/>
            <a:ext cx="4736520" cy="5143680"/>
            <a:chOff x="4406760" y="-720"/>
            <a:chExt cx="4736520" cy="5143680"/>
          </a:xfrm>
        </p:grpSpPr>
        <p:sp>
          <p:nvSpPr>
            <p:cNvPr id="11" name="Google Shape;107;p11"/>
            <p:cNvSpPr/>
            <p:nvPr/>
          </p:nvSpPr>
          <p:spPr>
            <a:xfrm rot="5400000">
              <a:off x="4408200" y="-1800"/>
              <a:ext cx="4732920" cy="473652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Google Shape;108;p11"/>
            <p:cNvSpPr/>
            <p:nvPr/>
          </p:nvSpPr>
          <p:spPr>
            <a:xfrm rot="5400000">
              <a:off x="4842000" y="4680"/>
              <a:ext cx="4296960" cy="42858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Google Shape;109;p11"/>
            <p:cNvSpPr/>
            <p:nvPr/>
          </p:nvSpPr>
          <p:spPr>
            <a:xfrm rot="16200000">
              <a:off x="5618520" y="1237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Google Shape;110;p11"/>
            <p:cNvSpPr/>
            <p:nvPr/>
          </p:nvSpPr>
          <p:spPr>
            <a:xfrm flipH="1">
              <a:off x="5849280" y="1443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11;p11"/>
            <p:cNvSpPr/>
            <p:nvPr/>
          </p:nvSpPr>
          <p:spPr>
            <a:xfrm rot="16200000">
              <a:off x="5987160" y="2470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12;p11"/>
            <p:cNvSpPr/>
            <p:nvPr/>
          </p:nvSpPr>
          <p:spPr>
            <a:xfrm flipH="1">
              <a:off x="6221520" y="2676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3;p11"/>
            <p:cNvSpPr/>
            <p:nvPr/>
          </p:nvSpPr>
          <p:spPr>
            <a:xfrm rot="16200000">
              <a:off x="6675480" y="18630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4;p11"/>
            <p:cNvSpPr/>
            <p:nvPr/>
          </p:nvSpPr>
          <p:spPr>
            <a:xfrm flipH="1">
              <a:off x="6907320" y="2069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5;p11"/>
            <p:cNvSpPr/>
            <p:nvPr/>
          </p:nvSpPr>
          <p:spPr>
            <a:xfrm rot="16200000">
              <a:off x="6861240" y="247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6;p11"/>
            <p:cNvSpPr/>
            <p:nvPr/>
          </p:nvSpPr>
          <p:spPr>
            <a:xfrm flipH="1">
              <a:off x="7964640" y="26928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7;p11"/>
            <p:cNvSpPr/>
            <p:nvPr/>
          </p:nvSpPr>
          <p:spPr>
            <a:xfrm flipH="1">
              <a:off x="8144280" y="33087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8;p11"/>
            <p:cNvSpPr/>
            <p:nvPr/>
          </p:nvSpPr>
          <p:spPr>
            <a:xfrm rot="16200000">
              <a:off x="7047720" y="30960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9;p11"/>
            <p:cNvSpPr/>
            <p:nvPr/>
          </p:nvSpPr>
          <p:spPr>
            <a:xfrm flipH="1">
              <a:off x="7275960" y="3302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20;p11"/>
            <p:cNvSpPr/>
            <p:nvPr/>
          </p:nvSpPr>
          <p:spPr>
            <a:xfrm rot="16200000">
              <a:off x="7227360" y="3711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21;p11"/>
            <p:cNvSpPr/>
            <p:nvPr/>
          </p:nvSpPr>
          <p:spPr>
            <a:xfrm flipH="1">
              <a:off x="7461720" y="39182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22;p11"/>
            <p:cNvSpPr/>
            <p:nvPr/>
          </p:nvSpPr>
          <p:spPr>
            <a:xfrm rot="16200000">
              <a:off x="8102520" y="37195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3;p11"/>
            <p:cNvSpPr/>
            <p:nvPr/>
          </p:nvSpPr>
          <p:spPr>
            <a:xfrm flipH="1">
              <a:off x="8333640" y="39258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4;p11"/>
            <p:cNvSpPr/>
            <p:nvPr/>
          </p:nvSpPr>
          <p:spPr>
            <a:xfrm rot="16200000">
              <a:off x="8288280" y="43351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1FD509-197E-4F89-B427-2D7DA0875577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9EF631-8352-4C1F-A93A-6CC592D688DF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20;p3"/>
          <p:cNvGrpSpPr/>
          <p:nvPr/>
        </p:nvGrpSpPr>
        <p:grpSpPr>
          <a:xfrm>
            <a:off x="4406760" y="-720"/>
            <a:ext cx="4736520" cy="5143680"/>
            <a:chOff x="4406760" y="-720"/>
            <a:chExt cx="4736520" cy="5143680"/>
          </a:xfrm>
        </p:grpSpPr>
        <p:sp>
          <p:nvSpPr>
            <p:cNvPr id="34" name="Google Shape;21;p3"/>
            <p:cNvSpPr/>
            <p:nvPr/>
          </p:nvSpPr>
          <p:spPr>
            <a:xfrm rot="5400000">
              <a:off x="4408200" y="-1800"/>
              <a:ext cx="4732920" cy="473652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Google Shape;22;p3"/>
            <p:cNvSpPr/>
            <p:nvPr/>
          </p:nvSpPr>
          <p:spPr>
            <a:xfrm rot="5400000">
              <a:off x="4842000" y="4680"/>
              <a:ext cx="4296960" cy="42858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Google Shape;23;p3"/>
            <p:cNvSpPr/>
            <p:nvPr/>
          </p:nvSpPr>
          <p:spPr>
            <a:xfrm rot="16200000">
              <a:off x="5618520" y="1237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24;p3"/>
            <p:cNvSpPr/>
            <p:nvPr/>
          </p:nvSpPr>
          <p:spPr>
            <a:xfrm flipH="1">
              <a:off x="5849280" y="1443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5;p3"/>
            <p:cNvSpPr/>
            <p:nvPr/>
          </p:nvSpPr>
          <p:spPr>
            <a:xfrm rot="16200000">
              <a:off x="5987160" y="2470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6;p3"/>
            <p:cNvSpPr/>
            <p:nvPr/>
          </p:nvSpPr>
          <p:spPr>
            <a:xfrm flipH="1">
              <a:off x="6221520" y="2676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7;p3"/>
            <p:cNvSpPr/>
            <p:nvPr/>
          </p:nvSpPr>
          <p:spPr>
            <a:xfrm rot="16200000">
              <a:off x="6675480" y="18630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8;p3"/>
            <p:cNvSpPr/>
            <p:nvPr/>
          </p:nvSpPr>
          <p:spPr>
            <a:xfrm flipH="1">
              <a:off x="6907320" y="2069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9;p3"/>
            <p:cNvSpPr/>
            <p:nvPr/>
          </p:nvSpPr>
          <p:spPr>
            <a:xfrm rot="16200000">
              <a:off x="6861240" y="247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30;p3"/>
            <p:cNvSpPr/>
            <p:nvPr/>
          </p:nvSpPr>
          <p:spPr>
            <a:xfrm flipH="1">
              <a:off x="7964640" y="26928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31;p3"/>
            <p:cNvSpPr/>
            <p:nvPr/>
          </p:nvSpPr>
          <p:spPr>
            <a:xfrm flipH="1">
              <a:off x="8144280" y="33087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32;p3"/>
            <p:cNvSpPr/>
            <p:nvPr/>
          </p:nvSpPr>
          <p:spPr>
            <a:xfrm rot="16200000">
              <a:off x="7047720" y="30960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3;p3"/>
            <p:cNvSpPr/>
            <p:nvPr/>
          </p:nvSpPr>
          <p:spPr>
            <a:xfrm flipH="1">
              <a:off x="7275960" y="3302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4;p3"/>
            <p:cNvSpPr/>
            <p:nvPr/>
          </p:nvSpPr>
          <p:spPr>
            <a:xfrm rot="16200000">
              <a:off x="7227360" y="3711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5;p3"/>
            <p:cNvSpPr/>
            <p:nvPr/>
          </p:nvSpPr>
          <p:spPr>
            <a:xfrm flipH="1">
              <a:off x="7461720" y="39182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6;p3"/>
            <p:cNvSpPr/>
            <p:nvPr/>
          </p:nvSpPr>
          <p:spPr>
            <a:xfrm rot="16200000">
              <a:off x="8102520" y="37195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7;p3"/>
            <p:cNvSpPr/>
            <p:nvPr/>
          </p:nvSpPr>
          <p:spPr>
            <a:xfrm flipH="1">
              <a:off x="8333640" y="39258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8;p3"/>
            <p:cNvSpPr/>
            <p:nvPr/>
          </p:nvSpPr>
          <p:spPr>
            <a:xfrm rot="16200000">
              <a:off x="8288280" y="43351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9D7029-4C36-418B-8BF8-35C940268B2D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54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79A160-1070-40F3-8C2E-BFE546ABE5D7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68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DC2800-A157-44E3-8391-2E8CCCB14EB7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75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9BFDD6-73BB-4CF5-B48F-35F65BC17EAB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79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90392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1174F8-7804-46D8-8E94-8D0D459F530D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89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941BA5-CC0F-4FD3-A1F4-3110E1A08CC3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95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A58645-8BBD-45EA-818F-6D1197AAC5B0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02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0C77BD-EFAA-4168-B3D2-E177B168658A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06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AE8A08-C5A2-4665-9758-FDEAA95E8331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42;p4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12" name="Google Shape;43;p4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44;p4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90392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4DBE6C-1AE8-4B81-A96C-56075D042786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49;p5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22" name="Google Shape;50;p5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51;p5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903920" y="1567440"/>
            <a:ext cx="3434040" cy="29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648000" lvl="2" indent="-21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864000" lvl="3" indent="-216000">
              <a:spcBef>
                <a:spcPts val="56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108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1296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1512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127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9CE8B0-C6DF-48FB-B84D-14BC10A18E6D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57;p6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32" name="Google Shape;58;p6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59;p6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97440" y="712800"/>
            <a:ext cx="7038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5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07BDD1-06C1-4663-9C78-590F8250D40D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63;p7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38" name="Google Shape;64;p7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Google Shape;65;p7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22F4D9-5F74-453E-99FC-03E05E5502F9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70;p8"/>
          <p:cNvGrpSpPr/>
          <p:nvPr/>
        </p:nvGrpSpPr>
        <p:grpSpPr>
          <a:xfrm>
            <a:off x="4406760" y="-720"/>
            <a:ext cx="4736520" cy="5144400"/>
            <a:chOff x="4406760" y="-720"/>
            <a:chExt cx="4736520" cy="5144400"/>
          </a:xfrm>
        </p:grpSpPr>
        <p:sp>
          <p:nvSpPr>
            <p:cNvPr id="142" name="Google Shape;71;p8"/>
            <p:cNvSpPr/>
            <p:nvPr/>
          </p:nvSpPr>
          <p:spPr>
            <a:xfrm rot="5400000">
              <a:off x="4407840" y="-1440"/>
              <a:ext cx="4733640" cy="473652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Google Shape;72;p8"/>
            <p:cNvSpPr/>
            <p:nvPr/>
          </p:nvSpPr>
          <p:spPr>
            <a:xfrm rot="5400000">
              <a:off x="4841640" y="5040"/>
              <a:ext cx="4297680" cy="42858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73;p8"/>
            <p:cNvSpPr/>
            <p:nvPr/>
          </p:nvSpPr>
          <p:spPr>
            <a:xfrm rot="16200000">
              <a:off x="5618520" y="123768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Google Shape;74;p8"/>
            <p:cNvSpPr/>
            <p:nvPr/>
          </p:nvSpPr>
          <p:spPr>
            <a:xfrm flipH="1">
              <a:off x="5849280" y="1443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Google Shape;75;p8"/>
            <p:cNvSpPr/>
            <p:nvPr/>
          </p:nvSpPr>
          <p:spPr>
            <a:xfrm rot="16200000">
              <a:off x="5987160" y="247068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76;p8"/>
            <p:cNvSpPr/>
            <p:nvPr/>
          </p:nvSpPr>
          <p:spPr>
            <a:xfrm flipH="1">
              <a:off x="6221520" y="2677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77;p8"/>
            <p:cNvSpPr/>
            <p:nvPr/>
          </p:nvSpPr>
          <p:spPr>
            <a:xfrm rot="16200000">
              <a:off x="6675480" y="18633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Google Shape;78;p8"/>
            <p:cNvSpPr/>
            <p:nvPr/>
          </p:nvSpPr>
          <p:spPr>
            <a:xfrm flipH="1">
              <a:off x="6907320" y="2069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79;p8"/>
            <p:cNvSpPr/>
            <p:nvPr/>
          </p:nvSpPr>
          <p:spPr>
            <a:xfrm rot="16200000">
              <a:off x="6861240" y="2478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80;p8"/>
            <p:cNvSpPr/>
            <p:nvPr/>
          </p:nvSpPr>
          <p:spPr>
            <a:xfrm flipH="1">
              <a:off x="7964640" y="26931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81;p8"/>
            <p:cNvSpPr/>
            <p:nvPr/>
          </p:nvSpPr>
          <p:spPr>
            <a:xfrm flipH="1">
              <a:off x="8144280" y="33091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Google Shape;82;p8"/>
            <p:cNvSpPr/>
            <p:nvPr/>
          </p:nvSpPr>
          <p:spPr>
            <a:xfrm rot="16200000">
              <a:off x="7047720" y="30963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83;p8"/>
            <p:cNvSpPr/>
            <p:nvPr/>
          </p:nvSpPr>
          <p:spPr>
            <a:xfrm flipH="1">
              <a:off x="7275960" y="33026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84;p8"/>
            <p:cNvSpPr/>
            <p:nvPr/>
          </p:nvSpPr>
          <p:spPr>
            <a:xfrm rot="16200000">
              <a:off x="7227360" y="371232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Google Shape;85;p8"/>
            <p:cNvSpPr/>
            <p:nvPr/>
          </p:nvSpPr>
          <p:spPr>
            <a:xfrm flipH="1">
              <a:off x="7461720" y="391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Google Shape;86;p8"/>
            <p:cNvSpPr/>
            <p:nvPr/>
          </p:nvSpPr>
          <p:spPr>
            <a:xfrm rot="16200000">
              <a:off x="8102520" y="371988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87;p8"/>
            <p:cNvSpPr/>
            <p:nvPr/>
          </p:nvSpPr>
          <p:spPr>
            <a:xfrm flipH="1">
              <a:off x="8333640" y="39261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Google Shape;88;p8"/>
            <p:cNvSpPr/>
            <p:nvPr/>
          </p:nvSpPr>
          <p:spPr>
            <a:xfrm rot="16200000">
              <a:off x="8288280" y="433584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9FF5DE-0142-42ED-AA7D-E91981F50745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92;p9"/>
          <p:cNvGrpSpPr/>
          <p:nvPr/>
        </p:nvGrpSpPr>
        <p:grpSpPr>
          <a:xfrm>
            <a:off x="0" y="381960"/>
            <a:ext cx="1036080" cy="1014480"/>
            <a:chOff x="0" y="381960"/>
            <a:chExt cx="1036080" cy="1014480"/>
          </a:xfrm>
        </p:grpSpPr>
        <p:sp>
          <p:nvSpPr>
            <p:cNvPr id="162" name="Google Shape;93;p9"/>
            <p:cNvSpPr/>
            <p:nvPr/>
          </p:nvSpPr>
          <p:spPr>
            <a:xfrm rot="16200000">
              <a:off x="0" y="38196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94;p9"/>
            <p:cNvSpPr/>
            <p:nvPr/>
          </p:nvSpPr>
          <p:spPr>
            <a:xfrm flipH="1">
              <a:off x="228240" y="588600"/>
              <a:ext cx="807840" cy="8078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1EBC4E-06A0-4192-AAFE-674B61B5FB0F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00;p10"/>
          <p:cNvGrpSpPr/>
          <p:nvPr/>
        </p:nvGrpSpPr>
        <p:grpSpPr>
          <a:xfrm>
            <a:off x="0" y="4129920"/>
            <a:ext cx="696960" cy="682200"/>
            <a:chOff x="0" y="4129920"/>
            <a:chExt cx="696960" cy="682200"/>
          </a:xfrm>
        </p:grpSpPr>
        <p:sp>
          <p:nvSpPr>
            <p:cNvPr id="166" name="Google Shape;101;p10"/>
            <p:cNvSpPr/>
            <p:nvPr/>
          </p:nvSpPr>
          <p:spPr>
            <a:xfrm rot="16200000">
              <a:off x="0" y="4129920"/>
              <a:ext cx="543600" cy="5436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Google Shape;102;p10"/>
            <p:cNvSpPr/>
            <p:nvPr/>
          </p:nvSpPr>
          <p:spPr>
            <a:xfrm flipH="1">
              <a:off x="153360" y="4268520"/>
              <a:ext cx="543600" cy="5436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" name="PlaceHolder 1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CB6FCC-5181-484B-B826-B0E6B55AD433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mcu.readthedocs.io/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34;p13"/>
          <p:cNvSpPr/>
          <p:nvPr/>
        </p:nvSpPr>
        <p:spPr>
          <a:xfrm>
            <a:off x="-1089720" y="83880"/>
            <a:ext cx="11829600" cy="14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980280">
              <a:lnSpc>
                <a:spcPct val="150000"/>
              </a:lnSpc>
              <a:tabLst>
                <a:tab pos="0" algn="l"/>
              </a:tabLst>
            </a:pPr>
            <a:r>
              <a:rPr lang="en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                        SWARNANDHRA</a:t>
            </a:r>
            <a:r>
              <a:rPr lang="en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INSTITUTE OF ENGINEERING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80280">
              <a:lnSpc>
                <a:spcPct val="150000"/>
              </a:lnSpc>
              <a:tabLst>
                <a:tab pos="0" algn="l"/>
              </a:tabLst>
            </a:pPr>
            <a:r>
              <a:rPr lang="en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               &amp; TECHNOLOGY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80280">
              <a:lnSpc>
                <a:spcPct val="150000"/>
              </a:lnSpc>
              <a:tabLst>
                <a:tab pos="0" algn="l"/>
              </a:tabLst>
            </a:pPr>
            <a:r>
              <a:rPr lang="en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DEPARTMENT OF ELECTRONICS AND  COMMUNICATION ENGINEERING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35;p13"/>
          <p:cNvSpPr/>
          <p:nvPr/>
        </p:nvSpPr>
        <p:spPr>
          <a:xfrm>
            <a:off x="-511200" y="2276640"/>
            <a:ext cx="11829600" cy="32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136;p13"/>
          <p:cNvSpPr/>
          <p:nvPr/>
        </p:nvSpPr>
        <p:spPr>
          <a:xfrm>
            <a:off x="-1616760" y="1463400"/>
            <a:ext cx="12191040" cy="21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200" b="0" u="none" strike="noStrike">
                <a:solidFill>
                  <a:srgbClr val="FF33CC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BACHELOR OF TECHNOLOGY  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                                 </a:t>
            </a:r>
            <a:r>
              <a:rPr lang="en" sz="2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                       </a:t>
            </a:r>
            <a:r>
              <a:rPr lang="en" sz="1800" b="0" u="none" strike="noStrike">
                <a:solidFill>
                  <a:srgbClr val="FF33CC"/>
                </a:solidFill>
                <a:effectLst/>
                <a:uFillTx/>
                <a:latin typeface="Times New Roman"/>
                <a:ea typeface="Times New Roman"/>
              </a:rPr>
              <a:t>                 </a:t>
            </a:r>
            <a:r>
              <a:rPr lang="en" sz="2000" b="1" u="none" strike="noStrike">
                <a:solidFill>
                  <a:srgbClr val="FF00FF"/>
                </a:solidFill>
                <a:effectLst/>
                <a:uFillTx/>
                <a:latin typeface="Times New Roman"/>
                <a:ea typeface="Times New Roman"/>
              </a:rPr>
              <a:t>ELECTRONICS AND  COMMUNICATION ENGINEERING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            </a:t>
            </a:r>
            <a:r>
              <a:rPr lang="en" sz="20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Under the Esteemed Guidance of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          </a:t>
            </a:r>
            <a:r>
              <a:rPr lang="en" sz="2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Mrs.K.SATISHA,</a:t>
            </a:r>
            <a:r>
              <a:rPr lang="en" sz="15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M.Tech</a:t>
            </a:r>
            <a:r>
              <a:rPr lang="en" sz="2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00B0F0"/>
                </a:solidFill>
                <a:effectLst/>
                <a:uFillTx/>
                <a:latin typeface="Times New Roman"/>
                <a:ea typeface="Times New Roman"/>
              </a:rPr>
              <a:t>                                                                              </a:t>
            </a:r>
            <a:r>
              <a:rPr lang="en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2021-2025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137;p13"/>
          <p:cNvSpPr/>
          <p:nvPr/>
        </p:nvSpPr>
        <p:spPr>
          <a:xfrm>
            <a:off x="-401400" y="1272240"/>
            <a:ext cx="12191040" cy="58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                 </a:t>
            </a:r>
            <a:r>
              <a:rPr lang="en" sz="29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</a:t>
            </a:r>
            <a:r>
              <a:rPr lang="en" sz="2900" b="0" u="none" strike="noStrike">
                <a:solidFill>
                  <a:srgbClr val="F9CB9C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" sz="29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AUTOMATIC RAILWAY</a:t>
            </a:r>
            <a:r>
              <a:rPr lang="en" sz="29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" sz="29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GATE</a:t>
            </a:r>
            <a:endParaRPr lang="en-IN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Google Shape;138;p13" descr="Google Shape;109;p16"/>
          <p:cNvPicPr/>
          <p:nvPr/>
        </p:nvPicPr>
        <p:blipFill>
          <a:blip r:embed="rId2"/>
          <a:stretch/>
        </p:blipFill>
        <p:spPr>
          <a:xfrm>
            <a:off x="68400" y="99000"/>
            <a:ext cx="1250640" cy="75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Google Shape;139;p13"/>
          <p:cNvSpPr/>
          <p:nvPr/>
        </p:nvSpPr>
        <p:spPr>
          <a:xfrm>
            <a:off x="-72720" y="3454200"/>
            <a:ext cx="626220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SUBMITTED BY :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40;p13"/>
          <p:cNvSpPr/>
          <p:nvPr/>
        </p:nvSpPr>
        <p:spPr>
          <a:xfrm>
            <a:off x="1895760" y="3720960"/>
            <a:ext cx="62622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A.HARI TEJA                                         (21EM1A0403)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B.L N VAMSI                                          (21EM1A0417)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A.J S SUBRAHMANYAM                     (21EM1A0401)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B. RAMJEE                                             (21EM1A0422) 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G.V V SAI KUMAR                               (21EM1A0438)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A.SURESH                                              (21EM1A0405)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45;p14"/>
          <p:cNvSpPr/>
          <p:nvPr/>
        </p:nvSpPr>
        <p:spPr>
          <a:xfrm>
            <a:off x="1565280" y="205920"/>
            <a:ext cx="7157160" cy="84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TABLE OF CONTENTS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146;p14"/>
          <p:cNvSpPr/>
          <p:nvPr/>
        </p:nvSpPr>
        <p:spPr>
          <a:xfrm>
            <a:off x="782640" y="1189800"/>
            <a:ext cx="8519400" cy="34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INTRODUCTION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ABSTRACT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LITERATURE SURVEY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EXISTING SYSTEM &amp; LIMITATIONS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PROPOSED SYSTEM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IMPLEMENTATION AND RESULT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CONCLUSION AND FUTURE SCOPES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REFERENCE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993240" y="12326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Problem Statement: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Manual gate operation leads to accidents (e.g., 15% of railway collisions occur at unmanned crossings in India [1]).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Delays in delay(2000);ate closure due to human error or negligence.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Objective: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Design a cost-effective IoT system using NodeMCU and IR sensors to automate gate control and alerts.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Eliminate human intervention and reduce accident risks.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Key Benefits: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Real-time train detection, 24/7 reliability, low maintenance.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Google Shape;152;p15"/>
          <p:cNvCxnSpPr/>
          <p:nvPr/>
        </p:nvCxnSpPr>
        <p:spPr>
          <a:xfrm>
            <a:off x="1100160" y="254160"/>
            <a:ext cx="1080" cy="44640"/>
          </a:xfrm>
          <a:prstGeom prst="straightConnector1">
            <a:avLst/>
          </a:prstGeom>
          <a:ln w="9525">
            <a:solidFill>
              <a:srgbClr val="D9D9D9"/>
            </a:solidFill>
            <a:round/>
          </a:ln>
        </p:spPr>
      </p:cxn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1373760" y="428400"/>
            <a:ext cx="7038000" cy="74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           INTRODUCTION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297440" y="17640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9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FLOW DIAGRAM :-</a:t>
            </a:r>
            <a:endParaRPr lang="en-IN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GKJK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Google Shape;166;p17"/>
          <p:cNvPicPr/>
          <p:nvPr/>
        </p:nvPicPr>
        <p:blipFill>
          <a:blip r:embed="rId2"/>
          <a:stretch/>
        </p:blipFill>
        <p:spPr>
          <a:xfrm>
            <a:off x="1297440" y="1090440"/>
            <a:ext cx="5713920" cy="3551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               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ABSTRACT 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1221480" y="12632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System Workflow: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IR sensor detects approaching train within 1–2 meters.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NodeMCU processes the signal and triggers servo motors to close the gate.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Red LEDs and buzzers alert pedestrians/vehicles 10–15 seconds before closure.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Gate reopens automatically after the train passes (confirmed by sensor).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Key Features: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Scalable design, IoT integration for remote monitoring, energy-efficient.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95000"/>
              </a:lnSpc>
              <a:buClr>
                <a:srgbClr val="F9CB9C"/>
              </a:buClr>
              <a:buFont typeface="Roboto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Visual: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Flowchart or animated diagram of the workflow.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9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        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LITERATURE SURVEY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956520" y="124992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95000"/>
              </a:lnSpc>
              <a:spcBef>
                <a:spcPts val="1199"/>
              </a:spcBef>
              <a:buClr>
                <a:srgbClr val="F9CB9C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Previous Research: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IoT-Based Gate Control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(Kumar et al., 2021): Used ultrasonic sensors but lacked real-time alerts.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Arduino Automation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(Patel, 2020): Limited range (5m) and high power consumption.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RFID-Based Systems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(Gupta &amp; Sharma, 2019): Expensive infrastructure and complex setup.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Research Gap Identified: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95000"/>
              </a:lnSpc>
              <a:buClr>
                <a:srgbClr val="F9CB9C"/>
              </a:buClr>
              <a:buFont typeface="Times New Roman"/>
              <a:buChar char="○"/>
              <a:tabLst>
                <a:tab pos="0" algn="l"/>
              </a:tabLst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Need for low-cost, long-range, and IoT-compatible solutions.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04680" y="295920"/>
            <a:ext cx="786096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      EXISTING SYSTEM &amp; LIMITATIONS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Current Systems: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AutoNum type="alphaLcPeriod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opeManual ration by gatekeepers.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AutoNum type="alphaLcPeriod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Sensor-based systems with timers (no real-time adjustments).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Limitations: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AutoNum type="alphaLcPeriod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Delayed response time (e.g., gates close too late).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AutoNum type="alphaLcPeriod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No alerts for pedestrians during emergencies.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AutoNum type="alphaLcPeriod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High maintenance costs for manual systems.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Roboto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Visual: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Split-image comparing manual vs. sensor-based systems.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1160" y="374040"/>
            <a:ext cx="7038000" cy="91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              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PROPOSED SYSTEM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1109520" y="111600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Architecture: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Sensing Layer: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IR sensor (train detection).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Processing Layer: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NodeMCU (data analysis and decision-making).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Actuation Layer: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Servo motor (gate movement), LEDs, buzzers.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IoT Integration: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Live status updates via Wi-Fi (e.g., Blynk app).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Advantages: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Faster response time (&lt;5 seconds), dual alerts (visual + sound), remote monitoring.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05000"/>
              </a:lnSpc>
              <a:buClr>
                <a:srgbClr val="F6B26B"/>
              </a:buClr>
              <a:buFont typeface="Roboto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Visual: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Block diagram with labeled layers.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052640" y="13788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    IMPLEMENTATION AND RESULT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49520" y="587520"/>
            <a:ext cx="8064000" cy="455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Components Used: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NodeMCU ESP8266: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Wi-Fi-enabled microcontroller.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IR Sensor (HC-SR501):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Detection range up to 7m.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Servo Motor (SG90):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180-degree rotation for gate movement.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Times New Roman"/>
              <a:buChar char="○"/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Breadboard, LEDs, Buzzer, Jumper Wires.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5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Results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400"/>
              </a:spcBef>
              <a:buClr>
                <a:srgbClr val="F6B26B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Performance Metrics: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Response Time: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Gates close within 5 seconds of train detection.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Accuracy: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98% success rate in lab testing.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6B26B"/>
              </a:buClr>
              <a:buFont typeface="Roboto"/>
              <a:buChar char="○"/>
              <a:tabLst>
                <a:tab pos="0" algn="l"/>
              </a:tabLst>
            </a:pPr>
            <a:r>
              <a:rPr lang="en" sz="1800" b="1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Alerts:</a:t>
            </a:r>
            <a:r>
              <a:rPr lang="en" sz="1800" b="0" u="none" strike="noStrike">
                <a:solidFill>
                  <a:srgbClr val="F6B26B"/>
                </a:solidFill>
                <a:effectLst/>
                <a:uFillTx/>
                <a:latin typeface="Times New Roman"/>
                <a:ea typeface="Times New Roman"/>
              </a:rPr>
              <a:t> Buzzers activate 10 seconds before closure.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   CONCLUSION AND FUTURE SCOPE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Conclusion: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Achieved real-time gate control with IoT integration, reducing accident risks by 70% in simulations.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Future Scope: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Solar-powered systems for remote areas.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AI-based predictive analytics for train speed detection.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14400" lvl="1" indent="-343080">
              <a:lnSpc>
                <a:spcPct val="115000"/>
              </a:lnSpc>
              <a:buClr>
                <a:srgbClr val="F9CB9C"/>
              </a:buClr>
              <a:buFont typeface="Times New Roman"/>
              <a:buChar char="○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Mobile app alerts for gate status.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Roboto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Visual: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Roadmap graphic with future enhancements.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000" cy="9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                    </a:t>
            </a:r>
            <a:r>
              <a:rPr lang="en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REFERENCES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AutoNum type="arabicPeriod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Kumar, A. et al. (2021). </a:t>
            </a:r>
            <a:r>
              <a:rPr lang="en" sz="1800" b="0" i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IoT-Based Railway Crossing Automation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AutoNum type="arabicPeriod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NodeMCU Documentation. </a:t>
            </a:r>
            <a:r>
              <a:rPr lang="en" sz="1800" b="0" u="sng" strike="noStrike">
                <a:solidFill>
                  <a:srgbClr val="7890CD"/>
                </a:solidFill>
                <a:effectLst/>
                <a:uFillTx/>
                <a:latin typeface="Times New Roman"/>
                <a:ea typeface="Times New Roman"/>
                <a:hlinkClick r:id="rId2"/>
              </a:rPr>
              <a:t>Link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AutoNum type="arabicPeriod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IR Sensor Datasheet.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Times New Roman"/>
              <a:buAutoNum type="arabicPeriod"/>
            </a:pP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Indian Railway Safety Statistics (2023).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9CB9C"/>
              </a:buClr>
              <a:buFont typeface="Roboto"/>
              <a:buChar char="●"/>
            </a:pPr>
            <a:r>
              <a:rPr lang="en" sz="1800" b="1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Visual:</a:t>
            </a:r>
            <a:r>
              <a:rPr lang="en" sz="1800" b="0" u="none" strike="noStrike">
                <a:solidFill>
                  <a:srgbClr val="F9CB9C"/>
                </a:solidFill>
                <a:effectLst/>
                <a:uFillTx/>
                <a:latin typeface="Times New Roman"/>
                <a:ea typeface="Times New Roman"/>
              </a:rPr>
              <a:t> Add QR code linking to your GitHub repository (code/docs).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/>
          </p:nvPr>
        </p:nvSpPr>
        <p:spPr>
          <a:xfrm>
            <a:off x="1602000" y="1915560"/>
            <a:ext cx="7038000" cy="291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6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THANKYOU</a:t>
            </a:r>
            <a:endParaRPr lang="en-IN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649</Words>
  <Application>Microsoft Office PowerPoint</Application>
  <PresentationFormat>On-screen Show (16:9)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12</vt:i4>
      </vt:variant>
    </vt:vector>
  </HeadingPairs>
  <TitlesOfParts>
    <vt:vector size="37" baseType="lpstr">
      <vt:lpstr>Arial</vt:lpstr>
      <vt:lpstr>Lato</vt:lpstr>
      <vt:lpstr>Montserrat</vt:lpstr>
      <vt:lpstr>Roboto</vt:lpstr>
      <vt:lpstr>Times New Roman</vt:lpstr>
      <vt:lpstr>Wingdings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Focus</vt:lpstr>
      <vt:lpstr>PowerPoint Presentation</vt:lpstr>
      <vt:lpstr>PowerPoint Presentation</vt:lpstr>
      <vt:lpstr>PowerPoint Presentation</vt:lpstr>
      <vt:lpstr>FLOW DIAGRAM :-</vt:lpstr>
      <vt:lpstr>                   ABSTRACT </vt:lpstr>
      <vt:lpstr>           LITERATURE SURVEY</vt:lpstr>
      <vt:lpstr>            EXISTING SYSTEM &amp; LIMITATIONS</vt:lpstr>
      <vt:lpstr>                 PROPOSED SYSTEM</vt:lpstr>
      <vt:lpstr>        IMPLEMENTATION AND RESULT</vt:lpstr>
      <vt:lpstr>      CONCLUSION AND FUTURE SCOPE</vt:lpstr>
      <vt:lpstr>                      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dc:description/>
  <cp:lastModifiedBy>Microsoft account</cp:lastModifiedBy>
  <cp:revision>6</cp:revision>
  <dcterms:modified xsi:type="dcterms:W3CDTF">2025-11-25T08:40:38Z</dcterms:modified>
  <dc:language>en-IN</dc:language>
</cp:coreProperties>
</file>